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OKILA\GUVI%20BADM\mini%20project%2010\Digital%20Marketing%20-%20GA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Essential KPIs &amp; Metrics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101747851371518"/>
          <c:y val="0.1430167597765363"/>
          <c:w val="0.85038775024445479"/>
          <c:h val="0.6970222437279138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'User acquisition'!$B$17</c:f>
              <c:strCache>
                <c:ptCount val="1"/>
                <c:pt idx="0">
                  <c:v>CTR (%)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'User acquisition'!$B$18:$B$22</c:f>
              <c:numCache>
                <c:formatCode>0.00</c:formatCode>
                <c:ptCount val="5"/>
                <c:pt idx="0">
                  <c:v>18.172879616963066</c:v>
                </c:pt>
                <c:pt idx="1">
                  <c:v>58.65750219362387</c:v>
                </c:pt>
                <c:pt idx="2">
                  <c:v>98.961038961038966</c:v>
                </c:pt>
                <c:pt idx="3">
                  <c:v>15.2276295133438</c:v>
                </c:pt>
                <c:pt idx="4">
                  <c:v>44.179894179894177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2B-4256-A227-B57C857DBDC5}"/>
            </c:ext>
          </c:extLst>
        </c:ser>
        <c:ser>
          <c:idx val="2"/>
          <c:order val="2"/>
          <c:tx>
            <c:strRef>
              <c:f>'User acquisition'!$C$17</c:f>
              <c:strCache>
                <c:ptCount val="1"/>
                <c:pt idx="0">
                  <c:v>CPC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'User acquisition'!$C$18:$C$22</c:f>
              <c:numCache>
                <c:formatCode>0%</c:formatCode>
                <c:ptCount val="5"/>
                <c:pt idx="0">
                  <c:v>0.05</c:v>
                </c:pt>
                <c:pt idx="1">
                  <c:v>0.03</c:v>
                </c:pt>
                <c:pt idx="2">
                  <c:v>0.04</c:v>
                </c:pt>
                <c:pt idx="3">
                  <c:v>9.9999999999999992E-2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2B-4256-A227-B57C857DBDC5}"/>
            </c:ext>
          </c:extLst>
        </c:ser>
        <c:ser>
          <c:idx val="3"/>
          <c:order val="3"/>
          <c:tx>
            <c:strRef>
              <c:f>'User acquisition'!$D$17</c:f>
              <c:strCache>
                <c:ptCount val="1"/>
                <c:pt idx="0">
                  <c:v>ROI (%)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'User acquisition'!$D$18:$D$22</c:f>
              <c:numCache>
                <c:formatCode>"₹"\ #,##0.00</c:formatCode>
                <c:ptCount val="5"/>
                <c:pt idx="0">
                  <c:v>337.92048929663605</c:v>
                </c:pt>
                <c:pt idx="1">
                  <c:v>-100</c:v>
                </c:pt>
                <c:pt idx="2">
                  <c:v>420.01312335958005</c:v>
                </c:pt>
                <c:pt idx="3">
                  <c:v>-100</c:v>
                </c:pt>
                <c:pt idx="4">
                  <c:v>-100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2B-4256-A227-B57C857DBDC5}"/>
            </c:ext>
          </c:extLst>
        </c:ser>
        <c:ser>
          <c:idx val="4"/>
          <c:order val="4"/>
          <c:tx>
            <c:strRef>
              <c:f>'User acquisition'!$E$17</c:f>
              <c:strCache>
                <c:ptCount val="1"/>
                <c:pt idx="0">
                  <c:v>Conversion Rate (%)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381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'User acquisition'!$E$18:$E$22</c:f>
              <c:numCache>
                <c:formatCode>0.00</c:formatCode>
                <c:ptCount val="5"/>
                <c:pt idx="0">
                  <c:v>18.172879616963066</c:v>
                </c:pt>
                <c:pt idx="1">
                  <c:v>58.65750219362387</c:v>
                </c:pt>
                <c:pt idx="2">
                  <c:v>98.961038961038966</c:v>
                </c:pt>
                <c:pt idx="3">
                  <c:v>15.2276295133438</c:v>
                </c:pt>
                <c:pt idx="4">
                  <c:v>44.179894179894177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2B-4256-A227-B57C857DBD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95958096"/>
        <c:axId val="199596193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'User acquisition'!$A$17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>
                      <a:rot lat="0" lon="0" rev="1200000"/>
                    </a:lightRig>
                  </a:scene3d>
                  <a:sp3d>
                    <a:bevelT w="38100" h="12700"/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'User acquisition'!$A$18:$A$22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F32B-4256-A227-B57C857DBDC5}"/>
                  </c:ext>
                </c:extLst>
              </c15:ser>
            </c15:filteredBarSeries>
          </c:ext>
        </c:extLst>
      </c:barChart>
      <c:catAx>
        <c:axId val="1995958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95961936"/>
        <c:crosses val="autoZero"/>
        <c:auto val="1"/>
        <c:lblAlgn val="ctr"/>
        <c:lblOffset val="100"/>
        <c:noMultiLvlLbl val="0"/>
      </c:catAx>
      <c:valAx>
        <c:axId val="199596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Total cost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595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DEF9-F298-5F7E-FABA-B134ED2BD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Data-Driven Insights for Digital Marketing Campaigns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FE095-F647-2A31-AE1D-E32C4C87D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4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443D-2C8B-8DA4-A62B-10E9E087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Task-1: Data Analysis- Clean and preprocess the data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77E57-9544-02C2-400F-700A4FF2C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6760" y="2065867"/>
            <a:ext cx="5736027" cy="19874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650CF-68A8-BB7B-A512-CACEFC01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18" y="4456924"/>
            <a:ext cx="9537290" cy="14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4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635F-C7B9-4FD0-3A2F-2CFAA887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key performance indicators (KPIs) and benchmarks for campaign performance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BD7007-6803-8881-0EFE-839BCD264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92" y="2204290"/>
            <a:ext cx="6430205" cy="370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2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72C5-9971-22A6-0B70-BAC83423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F81F-D4C0-9B3C-C2D1-88733EE94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📈 Direct Channel</a:t>
            </a:r>
            <a:r>
              <a:rPr lang="en-US" dirty="0"/>
              <a:t> drives the </a:t>
            </a:r>
            <a:r>
              <a:rPr lang="en-US" b="1" dirty="0"/>
              <a:t>highest number of new users</a:t>
            </a:r>
            <a:r>
              <a:rPr lang="en-US" dirty="0"/>
              <a:t> (~₹50,000), far surpassing other sources.</a:t>
            </a:r>
          </a:p>
          <a:p>
            <a:pPr algn="just"/>
            <a:r>
              <a:rPr lang="en-US" b="1" dirty="0"/>
              <a:t>📉 Email</a:t>
            </a:r>
            <a:r>
              <a:rPr lang="en-US" dirty="0"/>
              <a:t> and </a:t>
            </a:r>
            <a:r>
              <a:rPr lang="en-US" b="1" dirty="0"/>
              <a:t>Referral</a:t>
            </a:r>
            <a:r>
              <a:rPr lang="en-US" dirty="0"/>
              <a:t> channels show </a:t>
            </a:r>
            <a:r>
              <a:rPr lang="en-US" b="1" dirty="0"/>
              <a:t>moderate new user acquisition</a:t>
            </a:r>
            <a:r>
              <a:rPr lang="en-US" dirty="0"/>
              <a:t> with relatively </a:t>
            </a:r>
            <a:r>
              <a:rPr lang="en-US" b="1" dirty="0"/>
              <a:t>higher cost per key event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🔻 Organic Search &amp; Organic Shopping</a:t>
            </a:r>
            <a:r>
              <a:rPr lang="en-US" dirty="0"/>
              <a:t> deliver a </a:t>
            </a:r>
            <a:r>
              <a:rPr lang="en-US" b="1" dirty="0"/>
              <a:t>balanced performance</a:t>
            </a:r>
            <a:r>
              <a:rPr lang="en-US" dirty="0"/>
              <a:t> with decent new user counts and </a:t>
            </a:r>
            <a:r>
              <a:rPr lang="en-US" b="1" dirty="0"/>
              <a:t>lower cost per event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📉 Cross-network, Organic Video, Paid Search</a:t>
            </a:r>
            <a:r>
              <a:rPr lang="en-US" dirty="0"/>
              <a:t> contribute the </a:t>
            </a:r>
            <a:r>
              <a:rPr lang="en-US" b="1" dirty="0"/>
              <a:t>least</a:t>
            </a:r>
            <a:r>
              <a:rPr lang="en-US" dirty="0"/>
              <a:t> across all metrics.</a:t>
            </a:r>
          </a:p>
          <a:p>
            <a:pPr algn="just"/>
            <a:r>
              <a:rPr lang="en-US" b="1" dirty="0"/>
              <a:t>📊 Total Revenue</a:t>
            </a:r>
            <a:r>
              <a:rPr lang="en-US" dirty="0"/>
              <a:t> appears </a:t>
            </a:r>
            <a:r>
              <a:rPr lang="en-US" b="1" dirty="0"/>
              <a:t>low and steady</a:t>
            </a:r>
            <a:r>
              <a:rPr lang="en-US" dirty="0"/>
              <a:t> across all channels—implying </a:t>
            </a:r>
            <a:r>
              <a:rPr lang="en-US" b="1" dirty="0"/>
              <a:t>user quantity ≠ revenue quality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44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BDA4-CDB2-6B36-7D08-FC6990BE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💡 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5AE3-4082-D1E2-CD12-D526C72DC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 Direct channel further—it’s a high-conversion source.</a:t>
            </a:r>
          </a:p>
          <a:p>
            <a:r>
              <a:rPr lang="en-US" dirty="0"/>
              <a:t>Review ROI for Email and Referral due to high cost per key event.</a:t>
            </a:r>
          </a:p>
          <a:p>
            <a:r>
              <a:rPr lang="en-US" dirty="0"/>
              <a:t>Invest more in Organic Search if aiming for cost-effective growth.</a:t>
            </a:r>
          </a:p>
          <a:p>
            <a:r>
              <a:rPr lang="en-US" dirty="0"/>
              <a:t>Reassess low-performing channels like Cross-network and Paid Search.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41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D3C3-2F79-8657-FEE6-B57C9B4A8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acquisition </a:t>
            </a:r>
            <a:r>
              <a:rPr lang="en-US" dirty="0" err="1"/>
              <a:t>kpi</a:t>
            </a:r>
            <a:r>
              <a:rPr lang="en-US" dirty="0"/>
              <a:t>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CEFD5-EB99-1A71-C308-3580B2E23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0682" y="2192279"/>
            <a:ext cx="6041660" cy="354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E023-1585-697F-A666-BBE60B4A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📊 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E729-943C-791E-323E-3C4F6F911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📈 Direct</a:t>
            </a:r>
            <a:r>
              <a:rPr lang="en-US" dirty="0"/>
              <a:t> and </a:t>
            </a:r>
            <a:r>
              <a:rPr lang="en-US" b="1" dirty="0"/>
              <a:t>Organic Search</a:t>
            </a:r>
            <a:r>
              <a:rPr lang="en-US" dirty="0"/>
              <a:t> channels drive the </a:t>
            </a:r>
            <a:r>
              <a:rPr lang="en-US" b="1" dirty="0"/>
              <a:t>highest total revenue</a:t>
            </a:r>
            <a:r>
              <a:rPr lang="en-US" dirty="0"/>
              <a:t>, indicating strong traffic quality.</a:t>
            </a:r>
          </a:p>
          <a:p>
            <a:pPr algn="just"/>
            <a:r>
              <a:rPr lang="en-US" b="1" dirty="0"/>
              <a:t>Organic Shopping</a:t>
            </a:r>
            <a:r>
              <a:rPr lang="en-US" dirty="0"/>
              <a:t> shows the </a:t>
            </a:r>
            <a:r>
              <a:rPr lang="en-US" b="1" dirty="0"/>
              <a:t>highest key events</a:t>
            </a:r>
            <a:r>
              <a:rPr lang="en-US" dirty="0"/>
              <a:t>, suggesting highly engaged users despite moderate revenue.</a:t>
            </a:r>
          </a:p>
          <a:p>
            <a:pPr algn="just"/>
            <a:r>
              <a:rPr lang="en-US" b="1" dirty="0"/>
              <a:t>📉 Email, Organic Video, and Paid Search</a:t>
            </a:r>
            <a:r>
              <a:rPr lang="en-US" dirty="0"/>
              <a:t> contribute </a:t>
            </a:r>
            <a:r>
              <a:rPr lang="en-US" b="1" dirty="0"/>
              <a:t>negligible traffic and revenue</a:t>
            </a:r>
            <a:r>
              <a:rPr lang="en-US" dirty="0"/>
              <a:t>, indicating low effectiveness.</a:t>
            </a:r>
          </a:p>
          <a:p>
            <a:pPr algn="just"/>
            <a:r>
              <a:rPr lang="en-US" b="1" dirty="0"/>
              <a:t>Referral</a:t>
            </a:r>
            <a:r>
              <a:rPr lang="en-US" dirty="0"/>
              <a:t> performs </a:t>
            </a:r>
            <a:r>
              <a:rPr lang="en-US" b="1" dirty="0"/>
              <a:t>moderately well</a:t>
            </a:r>
            <a:r>
              <a:rPr lang="en-US" dirty="0"/>
              <a:t> across all metrics—suitable for nurturing leads.</a:t>
            </a:r>
          </a:p>
          <a:p>
            <a:pPr algn="just"/>
            <a:r>
              <a:rPr lang="en-US" b="1" dirty="0"/>
              <a:t>Engagement Rate and Events per Session</a:t>
            </a:r>
            <a:r>
              <a:rPr lang="en-US" dirty="0"/>
              <a:t> are </a:t>
            </a:r>
            <a:r>
              <a:rPr lang="en-US" b="1" dirty="0"/>
              <a:t>visibly significant</a:t>
            </a:r>
            <a:r>
              <a:rPr lang="en-US" dirty="0"/>
              <a:t> only in a few channels (Organic Shopping, Referral).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77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C8A4-E802-0989-5869-DCDD61E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💡 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BD90-7762-2ACE-C114-C51E23348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Boost investment in Direct and Organic Search—these are high-performing channels for revenue.</a:t>
            </a:r>
          </a:p>
          <a:p>
            <a:r>
              <a:rPr lang="en-US" dirty="0"/>
              <a:t>Leverage Organic Shopping for its strong engagement—optimize it for conversions.</a:t>
            </a:r>
          </a:p>
          <a:p>
            <a:r>
              <a:rPr lang="en-US" dirty="0"/>
              <a:t>Minimize focus on low-performing sources like Email, Paid Search, and Organic Video.</a:t>
            </a:r>
          </a:p>
          <a:p>
            <a:r>
              <a:rPr lang="en-US" dirty="0"/>
              <a:t>Track Referral effectiveness further—it may offer scalable potential with refinement.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24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094-1DA2-EFA9-5C7B-3D633A06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Essential KPIs &amp; Metrics to Display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8F39F3-B370-8723-3578-A0E2E45CD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502424"/>
              </p:ext>
            </p:extLst>
          </p:nvPr>
        </p:nvGraphicFramePr>
        <p:xfrm>
          <a:off x="1248697" y="2141538"/>
          <a:ext cx="9232490" cy="3649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243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2BC2-87C6-6D6B-69D9-878C2ECF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04568"/>
          </a:xfrm>
        </p:spPr>
        <p:txBody>
          <a:bodyPr/>
          <a:lstStyle/>
          <a:p>
            <a:r>
              <a:rPr lang="en-US" b="1" dirty="0"/>
              <a:t>📌 Key Performance Insights: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6CE34-292A-3218-8D23-EEB54111E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86349"/>
            <a:ext cx="10131425" cy="440485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Channel 3</a:t>
            </a:r>
            <a:r>
              <a:rPr lang="en-US" dirty="0"/>
              <a:t> shows:</a:t>
            </a:r>
          </a:p>
          <a:p>
            <a:pPr lvl="1"/>
            <a:r>
              <a:rPr lang="en-US" dirty="0"/>
              <a:t>Highest </a:t>
            </a:r>
            <a:r>
              <a:rPr lang="en-US" b="1" dirty="0"/>
              <a:t>CTR (98.96%)</a:t>
            </a:r>
            <a:r>
              <a:rPr lang="en-US" dirty="0"/>
              <a:t> and </a:t>
            </a:r>
            <a:r>
              <a:rPr lang="en-US" b="1" dirty="0"/>
              <a:t>Conversion Rate (98.96%)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Highest </a:t>
            </a:r>
            <a:r>
              <a:rPr lang="en-US" b="1" dirty="0"/>
              <a:t>ROI (₹420.01)</a:t>
            </a:r>
            <a:r>
              <a:rPr lang="en-US" dirty="0"/>
              <a:t> → Most effective and profitable channel.</a:t>
            </a:r>
          </a:p>
          <a:p>
            <a:r>
              <a:rPr lang="en-US" b="1" dirty="0"/>
              <a:t>Channel 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Moderate </a:t>
            </a:r>
            <a:r>
              <a:rPr lang="en-US" b="1" dirty="0"/>
              <a:t>CTR (18.17%)</a:t>
            </a:r>
            <a:r>
              <a:rPr lang="en-US" dirty="0"/>
              <a:t> and </a:t>
            </a:r>
            <a:r>
              <a:rPr lang="en-US" b="1" dirty="0"/>
              <a:t>Conversion Rate (18.17%)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Positive ROI (₹337.92)</a:t>
            </a:r>
            <a:r>
              <a:rPr lang="en-US" dirty="0"/>
              <a:t> → Good engagement with strong returns.</a:t>
            </a:r>
          </a:p>
          <a:p>
            <a:r>
              <a:rPr lang="en-US" b="1" dirty="0"/>
              <a:t>Channels 2, 4, and 5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Low ROI (−₹100) → Unprofitable.</a:t>
            </a:r>
          </a:p>
          <a:p>
            <a:pPr lvl="1"/>
            <a:r>
              <a:rPr lang="en-US" dirty="0"/>
              <a:t>Moderate </a:t>
            </a:r>
            <a:r>
              <a:rPr lang="en-US" b="1" dirty="0"/>
              <a:t>CTR</a:t>
            </a:r>
            <a:r>
              <a:rPr lang="en-US" dirty="0"/>
              <a:t> and </a:t>
            </a:r>
            <a:r>
              <a:rPr lang="en-US" b="1" dirty="0"/>
              <a:t>Conversion Rates</a:t>
            </a:r>
            <a:r>
              <a:rPr lang="en-US" dirty="0"/>
              <a:t>, but not cost-effective.</a:t>
            </a:r>
          </a:p>
          <a:p>
            <a:pPr lvl="1"/>
            <a:r>
              <a:rPr lang="en-US" dirty="0"/>
              <a:t>Need optimization or reconsideration in the campaign mix.</a:t>
            </a:r>
          </a:p>
          <a:p>
            <a:r>
              <a:rPr lang="en-US" b="1" dirty="0"/>
              <a:t>CPC Comparison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Highest </a:t>
            </a:r>
            <a:r>
              <a:rPr lang="en-US" b="1" dirty="0"/>
              <a:t>Cost per Click</a:t>
            </a:r>
            <a:r>
              <a:rPr lang="en-US" dirty="0"/>
              <a:t> observed in Channels 2 and 3.</a:t>
            </a:r>
          </a:p>
          <a:p>
            <a:pPr lvl="1"/>
            <a:r>
              <a:rPr lang="en-US" dirty="0"/>
              <a:t>Yet, ROI justifies cost for </a:t>
            </a:r>
            <a:r>
              <a:rPr lang="en-US" b="1" dirty="0"/>
              <a:t>Channel 3</a:t>
            </a:r>
            <a:r>
              <a:rPr lang="en-US" dirty="0"/>
              <a:t>, not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02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3853-975F-8852-487F-11396CEC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dashboard, Analytics and reports for stakeholders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882BC0-00BB-E5FB-46C1-DCA0BD1CC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0388" y="2141538"/>
            <a:ext cx="6582249" cy="3649662"/>
          </a:xfrm>
        </p:spPr>
      </p:pic>
    </p:spTree>
    <p:extLst>
      <p:ext uri="{BB962C8B-B14F-4D97-AF65-F5344CB8AC3E}">
        <p14:creationId xmlns:p14="http://schemas.microsoft.com/office/powerpoint/2010/main" val="379644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0BF5-DBE4-4A65-47EA-E4D30516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🔍 </a:t>
            </a:r>
            <a:r>
              <a:rPr lang="en-US" b="1" dirty="0"/>
              <a:t>Key Insights from KPI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4E9C-375F-3CB2-9097-2A4E5C77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641987"/>
            <a:ext cx="10040478" cy="41492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📊 1. Overall KPI Performance</a:t>
            </a:r>
          </a:p>
          <a:p>
            <a:pPr algn="just"/>
            <a:r>
              <a:rPr lang="en-US" dirty="0"/>
              <a:t>Highest total </a:t>
            </a:r>
            <a:r>
              <a:rPr lang="en-US" b="1" dirty="0"/>
              <a:t>Cost</a:t>
            </a:r>
            <a:r>
              <a:rPr lang="en-US" dirty="0"/>
              <a:t> is ₹928.57, with CPC, CTR, and Conversion Rates stacked.</a:t>
            </a:r>
          </a:p>
          <a:p>
            <a:pPr algn="just"/>
            <a:r>
              <a:rPr lang="en-US" b="1" dirty="0"/>
              <a:t>ROI</a:t>
            </a:r>
            <a:r>
              <a:rPr lang="en-US" dirty="0"/>
              <a:t> and </a:t>
            </a:r>
            <a:r>
              <a:rPr lang="en-US" b="1" dirty="0"/>
              <a:t>Cost efficiency</a:t>
            </a:r>
            <a:r>
              <a:rPr lang="en-US" dirty="0"/>
              <a:t> vary sharply by channel and engagement time.</a:t>
            </a:r>
          </a:p>
          <a:p>
            <a:pPr marL="0" indent="0" algn="just">
              <a:buNone/>
            </a:pPr>
            <a:r>
              <a:rPr lang="en-IN" b="1" dirty="0"/>
              <a:t>👥 2. Users vs. New Users vs. Key Events</a:t>
            </a:r>
          </a:p>
          <a:p>
            <a:pPr algn="just"/>
            <a:r>
              <a:rPr lang="en-IN" dirty="0"/>
              <a:t>New users (61K) outnumber returning users (57K), indicating strong acquisition.</a:t>
            </a:r>
          </a:p>
          <a:p>
            <a:pPr algn="just"/>
            <a:r>
              <a:rPr lang="en-IN" dirty="0"/>
              <a:t>Key events (~15K) show room for improving user engagement post-acquisition.</a:t>
            </a:r>
          </a:p>
          <a:p>
            <a:pPr marL="0" indent="0" algn="just">
              <a:buNone/>
            </a:pPr>
            <a:r>
              <a:rPr lang="en-US" b="1" dirty="0"/>
              <a:t>🕒 3. ROI vs. Avg. Engagement Time</a:t>
            </a:r>
          </a:p>
          <a:p>
            <a:pPr algn="just"/>
            <a:r>
              <a:rPr lang="en-US" dirty="0"/>
              <a:t>Peak ROI (99.99%) occurs with </a:t>
            </a:r>
            <a:r>
              <a:rPr lang="en-US" b="1" dirty="0"/>
              <a:t>10s engagement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Drop in ROI at </a:t>
            </a:r>
            <a:r>
              <a:rPr lang="en-US" b="1" dirty="0"/>
              <a:t>25s–35s</a:t>
            </a:r>
            <a:r>
              <a:rPr lang="en-US" dirty="0"/>
              <a:t>, suggesting overexposure may reduce efficiency.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18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EEC1-9AC5-01D5-CF95-026B6AE8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61CB9-FB5C-3294-00B2-733E5E227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02659"/>
            <a:ext cx="10131425" cy="4188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💸 4. Cost per Event for New Users vs. ROAS</a:t>
            </a:r>
          </a:p>
          <a:p>
            <a:r>
              <a:rPr lang="en-US" dirty="0"/>
              <a:t>Sharp spike in cost at low ROAS; inefficient ad spend at some touchpoints.</a:t>
            </a:r>
          </a:p>
          <a:p>
            <a:r>
              <a:rPr lang="en-US" dirty="0"/>
              <a:t>Campaigns with </a:t>
            </a:r>
            <a:r>
              <a:rPr lang="en-US" b="1" dirty="0"/>
              <a:t>0.5+ ROAS</a:t>
            </a:r>
            <a:r>
              <a:rPr lang="en-US" dirty="0"/>
              <a:t> show better event conversion per rupee.</a:t>
            </a:r>
          </a:p>
          <a:p>
            <a:pPr marL="0" indent="0">
              <a:buNone/>
            </a:pPr>
            <a:r>
              <a:rPr lang="en-US" b="1" dirty="0"/>
              <a:t>📈 5. CPC vs. ROI</a:t>
            </a:r>
          </a:p>
          <a:p>
            <a:r>
              <a:rPr lang="en-US" dirty="0"/>
              <a:t>Inverse trend: </a:t>
            </a:r>
            <a:r>
              <a:rPr lang="en-US" b="1" dirty="0"/>
              <a:t>Lower CPC yields higher ROI</a:t>
            </a:r>
            <a:r>
              <a:rPr lang="en-US" dirty="0"/>
              <a:t>.</a:t>
            </a:r>
          </a:p>
          <a:p>
            <a:r>
              <a:rPr lang="en-US" dirty="0"/>
              <a:t>CPC around </a:t>
            </a:r>
            <a:r>
              <a:rPr lang="en-US" b="1" dirty="0"/>
              <a:t>₹0.24</a:t>
            </a:r>
            <a:r>
              <a:rPr lang="en-US" dirty="0"/>
              <a:t> achieves </a:t>
            </a:r>
            <a:r>
              <a:rPr lang="en-US" b="1" dirty="0"/>
              <a:t>458% ROI</a:t>
            </a:r>
            <a:r>
              <a:rPr lang="en-US" dirty="0"/>
              <a:t>, ideal for cost-effective scaling.</a:t>
            </a:r>
          </a:p>
          <a:p>
            <a:pPr marL="0" indent="0">
              <a:buNone/>
            </a:pPr>
            <a:r>
              <a:rPr lang="en-US" b="1" dirty="0"/>
              <a:t>🧩 6. Revenue vs. Cost per Channel</a:t>
            </a:r>
          </a:p>
          <a:p>
            <a:r>
              <a:rPr lang="en-US" b="1" dirty="0"/>
              <a:t>Organic Search</a:t>
            </a:r>
            <a:r>
              <a:rPr lang="en-US" dirty="0"/>
              <a:t> drives highest revenue (₹2,811.96) at controlled cost.</a:t>
            </a:r>
          </a:p>
          <a:p>
            <a:r>
              <a:rPr lang="en-US" b="1" dirty="0"/>
              <a:t>Direct traffic</a:t>
            </a:r>
            <a:r>
              <a:rPr lang="en-US" dirty="0"/>
              <a:t> shows high cost (₹1,003.59) but moderate ROI, needs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082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48EA-7D3B-6B16-6F7F-72736649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CD279-B23A-37D6-6306-975EE095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🥧 7. Channel Contribution to Total Revenue</a:t>
            </a:r>
          </a:p>
          <a:p>
            <a:r>
              <a:rPr lang="en-US" dirty="0"/>
              <a:t>All channels contribute </a:t>
            </a:r>
            <a:r>
              <a:rPr lang="en-US" b="1" dirty="0"/>
              <a:t>equally (10%)</a:t>
            </a:r>
            <a:r>
              <a:rPr lang="en-US" dirty="0"/>
              <a:t> visually, but actual revenue varies.</a:t>
            </a:r>
          </a:p>
          <a:p>
            <a:r>
              <a:rPr lang="en-US" dirty="0"/>
              <a:t>Cross-channel synergy is evident; optimization possible in Organic Video &amp; Social.</a:t>
            </a:r>
          </a:p>
          <a:p>
            <a:pPr marL="0" indent="0">
              <a:buNone/>
            </a:pPr>
            <a:r>
              <a:rPr lang="en-US" b="1" dirty="0"/>
              <a:t>📦 8. Conversion Rate &amp; CTR Correlation</a:t>
            </a:r>
          </a:p>
          <a:p>
            <a:r>
              <a:rPr lang="en-US" dirty="0"/>
              <a:t>Best </a:t>
            </a:r>
            <a:r>
              <a:rPr lang="en-US" b="1" dirty="0"/>
              <a:t>CTR (98.96%)</a:t>
            </a:r>
            <a:r>
              <a:rPr lang="en-US" dirty="0"/>
              <a:t> aligns with highest </a:t>
            </a:r>
            <a:r>
              <a:rPr lang="en-US" b="1" dirty="0"/>
              <a:t>Conversion Rate (also 98.96%)</a:t>
            </a:r>
            <a:r>
              <a:rPr lang="en-US" dirty="0"/>
              <a:t>.</a:t>
            </a:r>
          </a:p>
          <a:p>
            <a:r>
              <a:rPr lang="en-US" dirty="0"/>
              <a:t>Channels with CTR &gt; 40% consistently outperform in conversions.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431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31F3-6207-EA7D-0FA7-5503CD62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🔍 </a:t>
            </a:r>
            <a:r>
              <a:rPr lang="en-IN" b="1" dirty="0"/>
              <a:t>Actionable Insights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0CAD-A65D-4B52-F919-9837F9C5C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1. 📈 High ROI Opportunities via Organic Search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Organic Search generated the </a:t>
            </a:r>
            <a:r>
              <a:rPr lang="en-US" b="1" dirty="0"/>
              <a:t>highest revenue (₹2,811.96)</a:t>
            </a:r>
            <a:r>
              <a:rPr lang="en-US" dirty="0"/>
              <a:t> at a </a:t>
            </a:r>
            <a:r>
              <a:rPr lang="en-US" b="1" dirty="0"/>
              <a:t>controlled cost</a:t>
            </a:r>
            <a:r>
              <a:rPr lang="en-US" dirty="0"/>
              <a:t>, with strong CTR and engagement.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Double down on SEO investment.</a:t>
            </a:r>
            <a:br>
              <a:rPr lang="en-US" dirty="0"/>
            </a:br>
            <a:r>
              <a:rPr lang="en-US" dirty="0"/>
              <a:t>Focus on content optimization, keyword targeting, and technical SEO to increase inbound traffic at low cost.</a:t>
            </a:r>
          </a:p>
          <a:p>
            <a:r>
              <a:rPr lang="en-US" b="1" dirty="0"/>
              <a:t>2. 🧾 High Ad Spend, Low Returns from Direct Traffic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Direct channel had the </a:t>
            </a:r>
            <a:r>
              <a:rPr lang="en-US" b="1" dirty="0"/>
              <a:t>highest cost (~₹1,003.59)</a:t>
            </a:r>
            <a:r>
              <a:rPr lang="en-US" dirty="0"/>
              <a:t> but relatively low ROI (425.10 revenue).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⚠️ </a:t>
            </a:r>
            <a:r>
              <a:rPr lang="en-US" b="1" dirty="0"/>
              <a:t>Audit Direct traffic sources.</a:t>
            </a:r>
            <a:br>
              <a:rPr lang="en-US" dirty="0"/>
            </a:br>
            <a:r>
              <a:rPr lang="en-US" dirty="0"/>
              <a:t>Ensure tracking is accurate and investigate if this traffic includes misattributed paid sources. Shift budget from low-performing direct efforts to higher ROI channels.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22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114F-0559-D204-643A-F19DE15B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6BB5-352B-45AF-8BC7-E92CEA3F6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💸 CPC Drives ROI Inversely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Channels with </a:t>
            </a:r>
            <a:r>
              <a:rPr lang="en-US" b="1" dirty="0"/>
              <a:t>lower CPC (₹0.24)</a:t>
            </a:r>
            <a:r>
              <a:rPr lang="en-US" dirty="0"/>
              <a:t> achieved </a:t>
            </a:r>
            <a:r>
              <a:rPr lang="en-US" b="1" dirty="0"/>
              <a:t>high ROI (458%)</a:t>
            </a:r>
            <a:r>
              <a:rPr lang="en-US" dirty="0"/>
              <a:t>.</a:t>
            </a:r>
          </a:p>
          <a:p>
            <a:r>
              <a:rPr lang="en-US" dirty="0"/>
              <a:t>Channels with </a:t>
            </a:r>
            <a:r>
              <a:rPr lang="en-US" b="1" dirty="0"/>
              <a:t>CPC &gt; ₹0.50</a:t>
            </a:r>
            <a:r>
              <a:rPr lang="en-US" dirty="0"/>
              <a:t> had lower ROI and high bounce rates.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Reallocate budget toward high-ROI, low-CPC campaigns.</a:t>
            </a:r>
            <a:br>
              <a:rPr lang="en-US" dirty="0"/>
            </a:br>
            <a:r>
              <a:rPr lang="en-US" dirty="0"/>
              <a:t>Continuously monitor and A/B test ads to lower CPC without compromising CTR.</a:t>
            </a:r>
          </a:p>
          <a:p>
            <a:r>
              <a:rPr lang="en-US" b="1" dirty="0"/>
              <a:t>4. 🚀 Strong Acquisition, Weak Retention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New users (61K) significantly outweigh returning users (57K), but only </a:t>
            </a:r>
            <a:r>
              <a:rPr lang="en-US" b="1" dirty="0"/>
              <a:t>15K key events</a:t>
            </a:r>
            <a:r>
              <a:rPr lang="en-US" dirty="0"/>
              <a:t> observed.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🎯 </a:t>
            </a:r>
            <a:r>
              <a:rPr lang="en-US" b="1" dirty="0"/>
              <a:t>Invest in post-acquisition engagement strategies</a:t>
            </a:r>
            <a:r>
              <a:rPr lang="en-US" dirty="0"/>
              <a:t> such as onboarding flows, remarketing, and email nurturing to convert new users into active ones.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506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A959-1D0D-DBEB-B0EA-A8B1820D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32A7-1145-F5C2-492B-C29D2AB8A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5. 🕒 ROI Correlated with 10s Avg. Engagement Time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b="1" dirty="0"/>
              <a:t>Highest ROI observed at 10s engagement time</a:t>
            </a:r>
            <a:r>
              <a:rPr lang="en-US" dirty="0"/>
              <a:t>, then drops off.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Refine landing pages and CTAs</a:t>
            </a:r>
            <a:r>
              <a:rPr lang="en-US" dirty="0"/>
              <a:t> to capture user attention and drive action within the 10–15 second window.</a:t>
            </a:r>
          </a:p>
          <a:p>
            <a:r>
              <a:rPr lang="en-US" b="1" dirty="0"/>
              <a:t>6. 📊 Balanced Channel Contribution Visually, But Not in Value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Dashboard pie chart suggests equal contribution from channels, but actual revenue skews heavily toward Organic and Referral.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📈 </a:t>
            </a:r>
            <a:r>
              <a:rPr lang="en-US" b="1" dirty="0"/>
              <a:t>Use weighted visualizations in reporting.</a:t>
            </a:r>
            <a:br>
              <a:rPr lang="en-US" dirty="0"/>
            </a:br>
            <a:r>
              <a:rPr lang="en-US" dirty="0"/>
              <a:t>Clearly highlight top contributors in value terms, not just channel presence.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3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D2F25-C8E9-751C-7E00-6F64E543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3F16C-6185-D8BE-9BCE-CA43CA7A2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7. 🎯 CTR Aligns Strongly with Conversion Rate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b="1" dirty="0"/>
              <a:t>CTR of 98.96% resulted in the highest conversion rate (also 98.96%)</a:t>
            </a:r>
            <a:r>
              <a:rPr lang="en-US" dirty="0"/>
              <a:t>, showing a direct positive correlation.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Boost creatives and ad messaging</a:t>
            </a:r>
            <a:r>
              <a:rPr lang="en-US" dirty="0"/>
              <a:t> in underperforming channels by borrowing from high-CTR campaigns.</a:t>
            </a:r>
          </a:p>
          <a:p>
            <a:r>
              <a:rPr lang="en-US" b="1" dirty="0"/>
              <a:t>8. 🛑 Inefficiency in Some Cost-Heavy Campaigns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Certain channels show </a:t>
            </a:r>
            <a:r>
              <a:rPr lang="en-US" b="1" dirty="0"/>
              <a:t>high cost per event with low ROAS</a:t>
            </a:r>
            <a:r>
              <a:rPr lang="en-US" dirty="0"/>
              <a:t>, indicating budget wastage.</a:t>
            </a:r>
          </a:p>
          <a:p>
            <a:r>
              <a:rPr lang="en-US" b="1" dirty="0"/>
              <a:t>Recommendation:</a:t>
            </a:r>
            <a:br>
              <a:rPr lang="en-US" dirty="0"/>
            </a:br>
            <a:r>
              <a:rPr lang="en-US" dirty="0"/>
              <a:t>⚠️ </a:t>
            </a:r>
            <a:r>
              <a:rPr lang="en-US" b="1" dirty="0"/>
              <a:t>Pause or restructure underperforming campaigns.</a:t>
            </a:r>
            <a:br>
              <a:rPr lang="en-US" dirty="0"/>
            </a:br>
            <a:r>
              <a:rPr lang="en-US" dirty="0"/>
              <a:t>Reevaluate targeting, bidding strategy, and channel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41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44A3-54B5-C38C-5D03-F532EF70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Campaign Performance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C29A-DBF8-07B0-5138-CA6196BA1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Organic Search: Top performer in revenue with low cost and high ROI.</a:t>
            </a:r>
          </a:p>
          <a:p>
            <a:r>
              <a:rPr lang="en-US" dirty="0"/>
              <a:t>Direct Traffic: Highest spend, but underwhelming returns.</a:t>
            </a:r>
          </a:p>
          <a:p>
            <a:r>
              <a:rPr lang="en-US" dirty="0"/>
              <a:t>New Users: High acquisition (61K) but low key event engagement (15K).</a:t>
            </a:r>
          </a:p>
          <a:p>
            <a:r>
              <a:rPr lang="en-US" dirty="0"/>
              <a:t>CTR &amp; Conversion: Strong positive correlation – high CTR leads to high conversions.</a:t>
            </a:r>
          </a:p>
          <a:p>
            <a:r>
              <a:rPr lang="en-US" dirty="0"/>
              <a:t>ROI Peaks at 10s Engagement: Short engagement windows drive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32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8665-685E-A4D0-2E01-5DEB99E1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📊 </a:t>
            </a:r>
            <a:r>
              <a:rPr lang="en-IN" b="1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4B8F-79CF-28CF-7E3A-C80F8F7E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CPC channels generate highest ROI.</a:t>
            </a:r>
          </a:p>
          <a:p>
            <a:r>
              <a:rPr lang="en-US" dirty="0"/>
              <a:t>High spend on low-ROAS channels is reducing efficiency.</a:t>
            </a:r>
          </a:p>
          <a:p>
            <a:r>
              <a:rPr lang="en-US" dirty="0"/>
              <a:t>User retention and conversion funnel need reinforcement.</a:t>
            </a:r>
          </a:p>
          <a:p>
            <a:r>
              <a:rPr lang="en-US" dirty="0"/>
              <a:t>Engagement drops after 10–15 seconds – critical to act early.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46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C2C6-99D8-A832-DF32-B229242C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CFD3-8BDC-0AF3-81D5-24A8ABA37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 more in SEO &amp; Organic Search – best cost-to-revenue ratio.</a:t>
            </a:r>
          </a:p>
          <a:p>
            <a:r>
              <a:rPr lang="en-US" dirty="0"/>
              <a:t>Optimize Direct campaigns – audit and reduce spend if underperforming.</a:t>
            </a:r>
          </a:p>
          <a:p>
            <a:r>
              <a:rPr lang="en-US" dirty="0"/>
              <a:t>Enhance creatives and CTA to improve CTR and conversion.</a:t>
            </a:r>
          </a:p>
          <a:p>
            <a:r>
              <a:rPr lang="en-US" dirty="0"/>
              <a:t>Boost post-click engagement (onboarding, retargeting, </a:t>
            </a:r>
            <a:r>
              <a:rPr lang="en-US"/>
              <a:t>remarketing).</a:t>
            </a:r>
          </a:p>
          <a:p>
            <a:r>
              <a:rPr lang="en-US"/>
              <a:t>Focus </a:t>
            </a:r>
            <a:r>
              <a:rPr lang="en-US" dirty="0"/>
              <a:t>on 10s engagement window – strong messaging &amp; fast-loading </a:t>
            </a:r>
            <a:r>
              <a:rPr lang="en-US" err="1"/>
              <a:t>pages</a:t>
            </a:r>
            <a:r>
              <a:rPr lang="en-US"/>
              <a:t>.</a:t>
            </a:r>
          </a:p>
          <a:p>
            <a:r>
              <a:rPr lang="en-US" dirty="0"/>
              <a:t>Pause or fix costly, low-ROI channels – reallocate to performing ones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06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{52875573-2744-41B9-A569-80C0E579AD08}tf03457452</Template>
  <TotalTime>360</TotalTime>
  <Words>1395</Words>
  <Application>Microsoft Office PowerPoint</Application>
  <PresentationFormat>Widescreen</PresentationFormat>
  <Paragraphs>126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Celestial</vt:lpstr>
      <vt:lpstr>Data-Driven Insights for Digital Marketing Campaigns</vt:lpstr>
      <vt:lpstr>Task-1: Data Analysis- Clean and preprocess the data</vt:lpstr>
      <vt:lpstr>Identify key performance indicators (KPIs) and benchmarks for campaign performance</vt:lpstr>
      <vt:lpstr>Key Insights:</vt:lpstr>
      <vt:lpstr>💡 Recommendations:</vt:lpstr>
      <vt:lpstr>Traffic acquisition kpi analysis</vt:lpstr>
      <vt:lpstr>📊 Key Insights:</vt:lpstr>
      <vt:lpstr>💡 Recommendations:</vt:lpstr>
      <vt:lpstr>📊 Essential KPIs &amp; Metrics to Display</vt:lpstr>
      <vt:lpstr>📌 Key Performance Insights:</vt:lpstr>
      <vt:lpstr>detailed dashboard, Analytics and reports for stakeholders</vt:lpstr>
      <vt:lpstr>🔍 Key Insights from KPI Dashboard</vt:lpstr>
      <vt:lpstr>Cont.,</vt:lpstr>
      <vt:lpstr>Cont.,</vt:lpstr>
      <vt:lpstr>🔍 Actionable Insights &amp; Recommendations</vt:lpstr>
      <vt:lpstr>Cont.,</vt:lpstr>
      <vt:lpstr>Cont.,</vt:lpstr>
      <vt:lpstr>Cont.,</vt:lpstr>
      <vt:lpstr>🚀 Campaign Performance Summary</vt:lpstr>
      <vt:lpstr>📊 Key Insights</vt:lpstr>
      <vt:lpstr>✅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GOKILA ANBALAGAN</dc:creator>
  <cp:lastModifiedBy>GOKILA ANBALAGAN</cp:lastModifiedBy>
  <cp:revision>20</cp:revision>
  <dcterms:created xsi:type="dcterms:W3CDTF">2025-06-09T05:53:06Z</dcterms:created>
  <dcterms:modified xsi:type="dcterms:W3CDTF">2025-06-09T11:53:44Z</dcterms:modified>
</cp:coreProperties>
</file>